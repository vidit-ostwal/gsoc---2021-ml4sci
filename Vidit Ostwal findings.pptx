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7" r:id="rId7"/>
    <p:sldId id="260" r:id="rId8"/>
    <p:sldId id="268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3DFC753-ECC6-4B4E-9B11-8F10E363CD0A}">
          <p14:sldIdLst>
            <p14:sldId id="256"/>
          </p14:sldIdLst>
        </p14:section>
        <p14:section name="Section 1" id="{869E3C96-6E02-4332-A8E9-103BEDA233D3}">
          <p14:sldIdLst>
            <p14:sldId id="257"/>
            <p14:sldId id="258"/>
            <p14:sldId id="259"/>
            <p14:sldId id="267"/>
            <p14:sldId id="260"/>
            <p14:sldId id="268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235D7-57B3-4301-9E26-8AE7D5EB4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3F86FB-FE08-4D14-8B0D-29CE4BF52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2A46A-A152-4818-AB4F-91C7D8D4F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857FF-9CCC-4431-9212-29596F36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C8FF8-55EB-43BA-985F-0E3BD5089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522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C7DEA-8CFF-4D15-8114-A23DF270E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27AAB-2B09-409B-BA51-C13B73E9B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48565-6FCE-413B-87E0-F79935333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827A4-C4CC-45C0-AB54-0A3CA57C6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36CD0-418B-4312-BA06-3D5616234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2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F9D0D-A6DC-4C49-B29D-0D0164882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3677D-9559-409F-A1B2-B4E34BD79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4992A-1728-4147-9D45-5D888F99C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91975-12ED-4FEE-B466-058593E7F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A21EE-9053-49DA-B3CE-79C6FB3EE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417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CC020-5417-4C5F-9078-9195F4563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87599-F4BC-429F-AFAF-493598C698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9F3353-2A59-4266-8888-57549D6D5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09E66B-5087-4617-BCAC-DC508B4D6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3CC72-9D3C-445F-984E-C6BE89700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8F9DF-1B36-4471-9FD1-604CC803D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381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5A063-926B-4C4B-A43C-9996B2157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2D8B0-79C6-45FB-AD7A-E39F68442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B98CDF-23FC-4320-B182-DC414BB7B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94F7E3-B4E2-43A9-BBC2-D1BC74EB8E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81CE5B-8B54-402C-A65D-74D4A9CC6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5BB304-DF38-40A9-9B1F-2B862EFF5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C5AD71-7485-40B3-8853-0918F5E59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3C544F-F05A-455A-BD2E-CFB0E717F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370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8E156-9FD1-41D8-ACE5-428B9B28D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9B0F42-3D76-416E-A6B0-8E4AC21CC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090EEA-CE8D-428D-9175-C7969186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40BB97-4D07-48B9-B6BC-FB1C62C35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572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EBABB5-2B8C-473D-94F8-2D1D4F8E1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D6438-37C1-48DA-920A-297B2DDCF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7F38C-5D41-4B74-970A-8994C46E8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688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A6351-B910-4D35-BF5A-BB098D50D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779CF-BCDA-4BFB-9748-98350887E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2E1487-A1C9-4293-B4EA-4746508D9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FA8CE-8ACB-462F-B284-692735A71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768FB-0F4B-4211-8753-2BC4DF858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06407-2A09-498E-88AF-C3E006175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767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DB197-5A77-47DB-9D12-27381640B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18C7FD-F15B-4DA0-A407-C2AC0EB372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944DE0-7814-4056-93DD-7B6CF9455B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7DBD6-4E74-49F8-87BB-01F2B05D6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94AD1-9BC9-46EF-8064-5C9255CA0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915E2-4D23-4AD4-B6CA-92BA7D0E3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541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B1E23-A300-4D3F-91EB-E15889CB7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3C5B66-ABCC-45E9-B18F-0E7AA244A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40CF9-0BE3-4668-BCEE-BD7775540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B36A9-C051-47E8-A7D9-D06C48D60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36159-3DF2-40F6-836C-5B2BF9F82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603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C28F73-C3F6-443A-B265-F2CDF964D4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6BB91C-45C9-484F-B17C-86446B75C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A34E1-EDE4-4FD8-88C8-41A204BDC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F2021-EC7D-4A83-B903-2AF82FB43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E32CA-9CD7-4BAE-A3CC-A84078442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5928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922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587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7620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074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3612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0165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7069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104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6410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1855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6558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37171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2017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60342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8396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8589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534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E8144C-3BB1-4EB3-8706-0A81041A2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EFC0A-DCC0-43D6-BF72-E56426CB4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DCCD9-E5DB-4F8D-A4E7-15689EB072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CC561-FED4-4483-A44E-B2AD98C95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52FF7-862C-41A6-A05D-631BCA5381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44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8F16F86-287C-4354-8E87-29C6FEE9CF8B}" type="datetimeFigureOut">
              <a:rPr lang="en-IN" smtClean="0"/>
              <a:t>09-04-2021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DF2F23C-BBEC-4A1C-90A1-DAB006FCD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2767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IDIT-OSTWAL/GSoC---2021-ML4SCI/blob/main/Supernova.ipyn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D73E6-166A-41F5-99E2-7A08F9E25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1884"/>
            <a:ext cx="9144000" cy="134522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GSoC</a:t>
            </a:r>
            <a:r>
              <a:rPr lang="en-US" b="1" dirty="0"/>
              <a:t> -2021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19D6F1-5521-4775-A490-4EE05CB750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529376"/>
            <a:ext cx="12192000" cy="1919532"/>
          </a:xfrm>
        </p:spPr>
        <p:txBody>
          <a:bodyPr>
            <a:noAutofit/>
          </a:bodyPr>
          <a:lstStyle/>
          <a:p>
            <a:r>
              <a:rPr lang="en-US" sz="3600" dirty="0">
                <a:latin typeface="Century Gothic" panose="020B0502020202020204" pitchFamily="34" charset="0"/>
              </a:rPr>
              <a:t>Project – </a:t>
            </a:r>
            <a:r>
              <a:rPr lang="en-US" sz="3600" b="1" dirty="0">
                <a:latin typeface="Century Gothic" panose="020B0502020202020204" pitchFamily="34" charset="0"/>
              </a:rPr>
              <a:t>“</a:t>
            </a:r>
            <a:r>
              <a:rPr lang="en-IN" sz="3600" b="1" i="0" u="none" strike="noStrike" baseline="0" dirty="0">
                <a:latin typeface="Century Gothic" panose="020B0502020202020204" pitchFamily="34" charset="0"/>
              </a:rPr>
              <a:t>Thermonuclear Supernova Classification</a:t>
            </a:r>
          </a:p>
          <a:p>
            <a:r>
              <a:rPr lang="en-IN" sz="3600" b="1" i="0" u="none" strike="noStrike" baseline="0" dirty="0">
                <a:latin typeface="Century Gothic" panose="020B0502020202020204" pitchFamily="34" charset="0"/>
              </a:rPr>
              <a:t>via their Nuclear Signatures” </a:t>
            </a:r>
            <a:endParaRPr lang="en-IN" sz="3600" b="1" dirty="0"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4554FB-17AC-49FB-A5AE-D79C39150D19}"/>
              </a:ext>
            </a:extLst>
          </p:cNvPr>
          <p:cNvSpPr txBox="1"/>
          <p:nvPr/>
        </p:nvSpPr>
        <p:spPr>
          <a:xfrm>
            <a:off x="9056077" y="5574324"/>
            <a:ext cx="35257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entury Gothic" panose="020B0502020202020204" pitchFamily="34" charset="0"/>
              </a:rPr>
              <a:t>- Vidit Ostwal</a:t>
            </a:r>
            <a:endParaRPr lang="en-IN" sz="3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307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4791A2-438B-4161-849D-5DA29EACA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6095999" cy="3771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7E1D9E-E0B9-41A1-BC54-C8E566C9EC0E}"/>
              </a:ext>
            </a:extLst>
          </p:cNvPr>
          <p:cNvSpPr txBox="1"/>
          <p:nvPr/>
        </p:nvSpPr>
        <p:spPr>
          <a:xfrm>
            <a:off x="6095999" y="325315"/>
            <a:ext cx="586153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The data was standardize </a:t>
            </a:r>
            <a:r>
              <a:rPr lang="en-US" b="1" dirty="0">
                <a:latin typeface="Century Gothic" panose="020B0502020202020204" pitchFamily="34" charset="0"/>
              </a:rPr>
              <a:t>(X – X</a:t>
            </a:r>
            <a:r>
              <a:rPr lang="en-US" sz="900" b="1" dirty="0">
                <a:latin typeface="Century Gothic" panose="020B0502020202020204" pitchFamily="34" charset="0"/>
              </a:rPr>
              <a:t>min</a:t>
            </a:r>
            <a:r>
              <a:rPr lang="en-US" b="1" dirty="0">
                <a:latin typeface="Century Gothic" panose="020B0502020202020204" pitchFamily="34" charset="0"/>
              </a:rPr>
              <a:t>)/(X</a:t>
            </a:r>
            <a:r>
              <a:rPr lang="en-US" sz="900" b="1" dirty="0">
                <a:latin typeface="Century Gothic" panose="020B0502020202020204" pitchFamily="34" charset="0"/>
              </a:rPr>
              <a:t>max</a:t>
            </a:r>
            <a:r>
              <a:rPr lang="en-US" b="1" dirty="0">
                <a:latin typeface="Century Gothic" panose="020B0502020202020204" pitchFamily="34" charset="0"/>
              </a:rPr>
              <a:t> – X</a:t>
            </a:r>
            <a:r>
              <a:rPr lang="en-US" sz="900" b="1" dirty="0">
                <a:latin typeface="Century Gothic" panose="020B0502020202020204" pitchFamily="34" charset="0"/>
              </a:rPr>
              <a:t>min</a:t>
            </a:r>
            <a:r>
              <a:rPr lang="en-US" b="1" dirty="0">
                <a:latin typeface="Century Gothic" panose="020B0502020202020204" pitchFamily="34" charset="0"/>
              </a:rPr>
              <a:t>)</a:t>
            </a:r>
            <a:r>
              <a:rPr lang="en-US" dirty="0">
                <a:latin typeface="Century Gothic" panose="020B0502020202020204" pitchFamily="34" charset="0"/>
              </a:rPr>
              <a:t> before making this plot, </a:t>
            </a:r>
            <a:r>
              <a:rPr lang="en-IN" dirty="0">
                <a:latin typeface="Century Gothic" panose="020B0502020202020204" pitchFamily="34" charset="0"/>
              </a:rPr>
              <a:t>kdeplot of seaborn (kernel density estimation) is used to make this plot.</a:t>
            </a:r>
          </a:p>
          <a:p>
            <a:endParaRPr lang="en-IN" dirty="0">
              <a:latin typeface="Century Gothic" panose="020B0502020202020204" pitchFamily="34" charset="0"/>
            </a:endParaRPr>
          </a:p>
          <a:p>
            <a:r>
              <a:rPr lang="en-IN" dirty="0">
                <a:latin typeface="Century Gothic" panose="020B0502020202020204" pitchFamily="34" charset="0"/>
              </a:rPr>
              <a:t>Major observation that could be concluded: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entury Gothic" panose="020B0502020202020204" pitchFamily="34" charset="0"/>
              </a:rPr>
              <a:t>The minimum of Flux of gamma rays occurs </a:t>
            </a:r>
            <a:r>
              <a:rPr lang="en-IN" b="1" dirty="0">
                <a:latin typeface="Century Gothic" panose="020B0502020202020204" pitchFamily="34" charset="0"/>
              </a:rPr>
              <a:t>between</a:t>
            </a:r>
            <a:r>
              <a:rPr lang="en-IN" dirty="0">
                <a:latin typeface="Century Gothic" panose="020B0502020202020204" pitchFamily="34" charset="0"/>
              </a:rPr>
              <a:t> the maximum of both optical depth and maximum velocity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entury Gothic" panose="020B0502020202020204" pitchFamily="34" charset="0"/>
              </a:rPr>
              <a:t>The peak of maximum velocity is </a:t>
            </a:r>
            <a:r>
              <a:rPr lang="en-IN" b="1" dirty="0">
                <a:latin typeface="Century Gothic" panose="020B0502020202020204" pitchFamily="34" charset="0"/>
              </a:rPr>
              <a:t>highest</a:t>
            </a:r>
            <a:r>
              <a:rPr lang="en-IN" dirty="0">
                <a:latin typeface="Century Gothic" panose="020B0502020202020204" pitchFamily="34" charset="0"/>
              </a:rPr>
              <a:t> as compared to the other physical parameters peak.</a:t>
            </a:r>
          </a:p>
          <a:p>
            <a:endParaRPr lang="en-IN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1D3B13-CAD9-4B16-9CCC-40775351B1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3194538"/>
            <a:ext cx="5861539" cy="36634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3C07E0-0F21-4B0B-9723-CBE3B0FAA936}"/>
              </a:ext>
            </a:extLst>
          </p:cNvPr>
          <p:cNvSpPr txBox="1"/>
          <p:nvPr/>
        </p:nvSpPr>
        <p:spPr>
          <a:xfrm>
            <a:off x="360485" y="3692769"/>
            <a:ext cx="59787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The optical depth is plotted with errors added and subtracted (values not standardize)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The peak (maximum density) of all the three graph remains the same </a:t>
            </a:r>
            <a:r>
              <a:rPr lang="en-IN" dirty="0">
                <a:latin typeface="Century Gothic" panose="020B0502020202020204" pitchFamily="34" charset="0"/>
              </a:rPr>
              <a:t>which means that probability of finding in a pre- defined contour </a:t>
            </a:r>
            <a:r>
              <a:rPr lang="en-IN" b="1" dirty="0">
                <a:latin typeface="Century Gothic" panose="020B0502020202020204" pitchFamily="34" charset="0"/>
              </a:rPr>
              <a:t>remains the same</a:t>
            </a:r>
            <a:r>
              <a:rPr lang="en-IN" dirty="0">
                <a:latin typeface="Century Gothic" panose="020B0502020202020204" pitchFamily="34" charset="0"/>
              </a:rPr>
              <a:t> for all the three cases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entury Gothic" panose="020B0502020202020204" pitchFamily="34" charset="0"/>
              </a:rPr>
              <a:t>The peak shifts leftwards or rightwards accounting whether the error are added or subtracted.  </a:t>
            </a:r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028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0F78A1-2C93-4D6B-A310-2815176DB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515" y="0"/>
            <a:ext cx="6096000" cy="381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426F63-4400-4AE9-AB92-EB824D1F7D42}"/>
              </a:ext>
            </a:extLst>
          </p:cNvPr>
          <p:cNvSpPr txBox="1"/>
          <p:nvPr/>
        </p:nvSpPr>
        <p:spPr>
          <a:xfrm>
            <a:off x="5969978" y="52754"/>
            <a:ext cx="59348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The maximum velocity is plotted with errors added and subtracted (values not standardize).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The peak (maximum density) of all the three graph does not remains the same </a:t>
            </a:r>
            <a:r>
              <a:rPr lang="en-IN" dirty="0">
                <a:latin typeface="Century Gothic" panose="020B0502020202020204" pitchFamily="34" charset="0"/>
              </a:rPr>
              <a:t>which means that probability of finding in a pre- defined contour </a:t>
            </a:r>
            <a:r>
              <a:rPr lang="en-IN" b="1" dirty="0">
                <a:latin typeface="Century Gothic" panose="020B0502020202020204" pitchFamily="34" charset="0"/>
              </a:rPr>
              <a:t>has changed </a:t>
            </a:r>
            <a:r>
              <a:rPr lang="en-IN" dirty="0">
                <a:latin typeface="Century Gothic" panose="020B0502020202020204" pitchFamily="34" charset="0"/>
              </a:rPr>
              <a:t>and is maximum in a particular region when errors are subtracted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entury Gothic" panose="020B0502020202020204" pitchFamily="34" charset="0"/>
              </a:rPr>
              <a:t>The peak shifts leftwards or rightwards accounting whether the error are added or subtracted.  </a:t>
            </a:r>
            <a:endParaRPr lang="en-US" dirty="0">
              <a:latin typeface="Century Gothic" panose="020B0502020202020204" pitchFamily="34" charset="0"/>
            </a:endParaRPr>
          </a:p>
          <a:p>
            <a:endParaRPr lang="en-IN" dirty="0"/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98E28D-F11F-4587-A6DC-16BC1EFB36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992" y="3101120"/>
            <a:ext cx="6011008" cy="37568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F8D06B4-2725-45F9-8294-357C55C027DC}"/>
              </a:ext>
            </a:extLst>
          </p:cNvPr>
          <p:cNvSpPr txBox="1"/>
          <p:nvPr/>
        </p:nvSpPr>
        <p:spPr>
          <a:xfrm>
            <a:off x="641838" y="3877408"/>
            <a:ext cx="54541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Emergent Flux of Gamma is plotted </a:t>
            </a:r>
          </a:p>
          <a:p>
            <a:r>
              <a:rPr lang="en-US" dirty="0">
                <a:latin typeface="Century Gothic" panose="020B0502020202020204" pitchFamily="34" charset="0"/>
              </a:rPr>
              <a:t>(values are not standardize)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It has two maxima with a minima occurring in between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The density value is </a:t>
            </a:r>
            <a:r>
              <a:rPr lang="en-US" b="1" dirty="0">
                <a:latin typeface="Century Gothic" panose="020B0502020202020204" pitchFamily="34" charset="0"/>
              </a:rPr>
              <a:t>quite high </a:t>
            </a:r>
            <a:r>
              <a:rPr lang="en-US" dirty="0">
                <a:latin typeface="Century Gothic" panose="020B0502020202020204" pitchFamily="34" charset="0"/>
              </a:rPr>
              <a:t>as compared to all the previous graph, accounting to the fact that certain region / contour has high number of points occurring in between them</a:t>
            </a:r>
            <a:endParaRPr lang="en-IN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198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95957D-673E-41F3-8F8C-2A99C0AD29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46" t="8975" r="12037" b="9103"/>
          <a:stretch/>
        </p:blipFill>
        <p:spPr>
          <a:xfrm>
            <a:off x="7804638" y="17584"/>
            <a:ext cx="4387362" cy="4421962"/>
          </a:xfrm>
          <a:prstGeom prst="rect">
            <a:avLst/>
          </a:prstGeom>
        </p:spPr>
      </p:pic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8C55AAB-F501-41C6-B124-49F211C378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757178"/>
              </p:ext>
            </p:extLst>
          </p:nvPr>
        </p:nvGraphicFramePr>
        <p:xfrm>
          <a:off x="-2" y="1"/>
          <a:ext cx="7804638" cy="35608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7182">
                  <a:extLst>
                    <a:ext uri="{9D8B030D-6E8A-4147-A177-3AD203B41FA5}">
                      <a16:colId xmlns:a16="http://schemas.microsoft.com/office/drawing/2014/main" val="231474412"/>
                    </a:ext>
                  </a:extLst>
                </a:gridCol>
                <a:gridCol w="867182">
                  <a:extLst>
                    <a:ext uri="{9D8B030D-6E8A-4147-A177-3AD203B41FA5}">
                      <a16:colId xmlns:a16="http://schemas.microsoft.com/office/drawing/2014/main" val="991932301"/>
                    </a:ext>
                  </a:extLst>
                </a:gridCol>
                <a:gridCol w="867182">
                  <a:extLst>
                    <a:ext uri="{9D8B030D-6E8A-4147-A177-3AD203B41FA5}">
                      <a16:colId xmlns:a16="http://schemas.microsoft.com/office/drawing/2014/main" val="3910454417"/>
                    </a:ext>
                  </a:extLst>
                </a:gridCol>
                <a:gridCol w="867182">
                  <a:extLst>
                    <a:ext uri="{9D8B030D-6E8A-4147-A177-3AD203B41FA5}">
                      <a16:colId xmlns:a16="http://schemas.microsoft.com/office/drawing/2014/main" val="2543272329"/>
                    </a:ext>
                  </a:extLst>
                </a:gridCol>
                <a:gridCol w="867182">
                  <a:extLst>
                    <a:ext uri="{9D8B030D-6E8A-4147-A177-3AD203B41FA5}">
                      <a16:colId xmlns:a16="http://schemas.microsoft.com/office/drawing/2014/main" val="3785087847"/>
                    </a:ext>
                  </a:extLst>
                </a:gridCol>
                <a:gridCol w="867182">
                  <a:extLst>
                    <a:ext uri="{9D8B030D-6E8A-4147-A177-3AD203B41FA5}">
                      <a16:colId xmlns:a16="http://schemas.microsoft.com/office/drawing/2014/main" val="1298401178"/>
                    </a:ext>
                  </a:extLst>
                </a:gridCol>
                <a:gridCol w="867182">
                  <a:extLst>
                    <a:ext uri="{9D8B030D-6E8A-4147-A177-3AD203B41FA5}">
                      <a16:colId xmlns:a16="http://schemas.microsoft.com/office/drawing/2014/main" val="2451637366"/>
                    </a:ext>
                  </a:extLst>
                </a:gridCol>
                <a:gridCol w="867182">
                  <a:extLst>
                    <a:ext uri="{9D8B030D-6E8A-4147-A177-3AD203B41FA5}">
                      <a16:colId xmlns:a16="http://schemas.microsoft.com/office/drawing/2014/main" val="760097576"/>
                    </a:ext>
                  </a:extLst>
                </a:gridCol>
                <a:gridCol w="867182">
                  <a:extLst>
                    <a:ext uri="{9D8B030D-6E8A-4147-A177-3AD203B41FA5}">
                      <a16:colId xmlns:a16="http://schemas.microsoft.com/office/drawing/2014/main" val="2850765494"/>
                    </a:ext>
                  </a:extLst>
                </a:gridCol>
              </a:tblGrid>
              <a:tr h="413044"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Param1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Param1_un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Param2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Param2_un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Param3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TMass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NiMass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Explosion energy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12460411"/>
                  </a:ext>
                </a:extLst>
              </a:tr>
              <a:tr h="39068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Param1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0.419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-0.373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0.632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0.663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0.627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-0.033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20213123"/>
                  </a:ext>
                </a:extLst>
              </a:tr>
              <a:tr h="39068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Param1_un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0.419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0.574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-0.205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-0.227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-0.016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43630761"/>
                  </a:ext>
                </a:extLst>
              </a:tr>
              <a:tr h="39068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Param2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0.574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-0.256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-0.261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-0.007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11831017"/>
                  </a:ext>
                </a:extLst>
              </a:tr>
              <a:tr h="39068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Param2_un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-0.373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-0.445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-0.218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-0.441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-0.081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49094105"/>
                  </a:ext>
                </a:extLst>
              </a:tr>
              <a:tr h="39068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Param3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0.632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-0.205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-0.256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-0.445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92597145"/>
                  </a:ext>
                </a:extLst>
              </a:tr>
              <a:tr h="39068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TMass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0.663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-0.218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0.362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60596164"/>
                  </a:ext>
                </a:extLst>
              </a:tr>
              <a:tr h="39068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NiMass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0.627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-0.227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-0.261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-0.441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0.362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25005501"/>
                  </a:ext>
                </a:extLst>
              </a:tr>
              <a:tr h="41304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Explosion energy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-0.033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-0.016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-0.081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52198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96180B0-E31B-4C3C-9657-13A67519865D}"/>
              </a:ext>
            </a:extLst>
          </p:cNvPr>
          <p:cNvSpPr txBox="1"/>
          <p:nvPr/>
        </p:nvSpPr>
        <p:spPr>
          <a:xfrm>
            <a:off x="246185" y="3798277"/>
            <a:ext cx="1121898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To identify the relationship between physical and observable parameters, correlation matrix and a heatmap is made with dark red = 1 and dark bule = -0.4.</a:t>
            </a:r>
          </a:p>
          <a:p>
            <a:r>
              <a:rPr lang="en-US" dirty="0">
                <a:latin typeface="Century Gothic" panose="020B0502020202020204" pitchFamily="34" charset="0"/>
              </a:rPr>
              <a:t>Some major observation: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entury Gothic" panose="020B0502020202020204" pitchFamily="34" charset="0"/>
              </a:rPr>
              <a:t>The uncertainty in optical density has correlation of 0.41 with value of optical density, thus value of uncertainty increases as optical density increases but not as </a:t>
            </a:r>
            <a:r>
              <a:rPr lang="en-IN" b="1" dirty="0">
                <a:latin typeface="Century Gothic" panose="020B0502020202020204" pitchFamily="34" charset="0"/>
              </a:rPr>
              <a:t>rapidly</a:t>
            </a:r>
            <a:r>
              <a:rPr lang="en-IN" dirty="0">
                <a:latin typeface="Century Gothic" panose="020B0502020202020204" pitchFamily="34" charset="0"/>
              </a:rPr>
              <a:t>, on the other hand uncertainty of maximum velocity has a correlation of -0.37 which means uncertainty decreases as maximum velocity increases.</a:t>
            </a:r>
          </a:p>
          <a:p>
            <a:endParaRPr lang="en-IN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Param1 and Param2 that is optical depth and maximum velocity are weakly positively correlated having a correlation of just </a:t>
            </a:r>
            <a:r>
              <a:rPr lang="en-US" b="1" dirty="0">
                <a:latin typeface="Century Gothic" panose="020B0502020202020204" pitchFamily="34" charset="0"/>
              </a:rPr>
              <a:t>0.139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  <a:endParaRPr lang="en-US" b="1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568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CCAAE4-6A23-4AA2-BC63-6C0CAD04FFDC}"/>
              </a:ext>
            </a:extLst>
          </p:cNvPr>
          <p:cNvSpPr txBox="1"/>
          <p:nvPr/>
        </p:nvSpPr>
        <p:spPr>
          <a:xfrm>
            <a:off x="398585" y="536330"/>
            <a:ext cx="1160584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Param1 and Param3 that is optical depth and emergent flux of gamma rays are fairly positively correlated having a correlation of </a:t>
            </a:r>
            <a:r>
              <a:rPr lang="en-US" b="1" dirty="0">
                <a:latin typeface="Century Gothic" panose="020B0502020202020204" pitchFamily="34" charset="0"/>
              </a:rPr>
              <a:t>0.639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Param2 and Param3 that is maximum velocity and emergent flux of gamma rays are weakly negatively correlated having a correlation of </a:t>
            </a:r>
            <a:r>
              <a:rPr lang="en-US" b="1" dirty="0">
                <a:latin typeface="Century Gothic" panose="020B0502020202020204" pitchFamily="34" charset="0"/>
              </a:rPr>
              <a:t>-0.256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Optical depth (Param1) has a fairly positive correlation with Total Mass (correlation = </a:t>
            </a:r>
            <a:r>
              <a:rPr lang="en-US" b="1" dirty="0">
                <a:latin typeface="Century Gothic" panose="020B0502020202020204" pitchFamily="34" charset="0"/>
              </a:rPr>
              <a:t>0.663</a:t>
            </a:r>
            <a:r>
              <a:rPr lang="en-US" dirty="0">
                <a:latin typeface="Century Gothic" panose="020B0502020202020204" pitchFamily="34" charset="0"/>
              </a:rPr>
              <a:t>), Ni Mass (correlation =  </a:t>
            </a:r>
            <a:r>
              <a:rPr lang="en-US" b="1" dirty="0">
                <a:latin typeface="Century Gothic" panose="020B0502020202020204" pitchFamily="34" charset="0"/>
              </a:rPr>
              <a:t>0.627)</a:t>
            </a:r>
            <a:r>
              <a:rPr lang="en-US" dirty="0">
                <a:latin typeface="Century Gothic" panose="020B0502020202020204" pitchFamily="34" charset="0"/>
              </a:rPr>
              <a:t> and weak negative correlation with Explosion energy (correlation = </a:t>
            </a:r>
            <a:r>
              <a:rPr lang="en-US" b="1" dirty="0">
                <a:latin typeface="Century Gothic" panose="020B0502020202020204" pitchFamily="34" charset="0"/>
              </a:rPr>
              <a:t>-0.033).</a:t>
            </a:r>
          </a:p>
          <a:p>
            <a:endParaRPr lang="en-US" b="1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Maximum Velocity (Param2) has weak positive correlation with Total Mass (correlation = </a:t>
            </a:r>
            <a:r>
              <a:rPr lang="en-US" b="1" dirty="0">
                <a:latin typeface="Century Gothic" panose="020B0502020202020204" pitchFamily="34" charset="0"/>
              </a:rPr>
              <a:t>0.102), </a:t>
            </a:r>
            <a:r>
              <a:rPr lang="en-US" dirty="0">
                <a:latin typeface="Century Gothic" panose="020B0502020202020204" pitchFamily="34" charset="0"/>
              </a:rPr>
              <a:t>and weak negative correlation with Ni Mass (correlation = </a:t>
            </a:r>
            <a:r>
              <a:rPr lang="en-US" b="1" dirty="0">
                <a:latin typeface="Century Gothic" panose="020B0502020202020204" pitchFamily="34" charset="0"/>
              </a:rPr>
              <a:t>-0.261</a:t>
            </a:r>
            <a:r>
              <a:rPr lang="en-US" dirty="0">
                <a:latin typeface="Century Gothic" panose="020B0502020202020204" pitchFamily="34" charset="0"/>
              </a:rPr>
              <a:t>) and with explosion energy (correlation = -</a:t>
            </a:r>
            <a:r>
              <a:rPr lang="en-US" b="1" dirty="0">
                <a:latin typeface="Century Gothic" panose="020B0502020202020204" pitchFamily="34" charset="0"/>
              </a:rPr>
              <a:t>0.007</a:t>
            </a:r>
            <a:r>
              <a:rPr lang="en-US" dirty="0">
                <a:latin typeface="Century Gothic" panose="020B050202020202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Emergent flux of gamma rays (Param3) has fairly positive correlation with Total Mass (correlation = </a:t>
            </a:r>
            <a:r>
              <a:rPr lang="en-US" b="1" dirty="0">
                <a:latin typeface="Century Gothic" panose="020B0502020202020204" pitchFamily="34" charset="0"/>
              </a:rPr>
              <a:t>0.357), </a:t>
            </a:r>
            <a:r>
              <a:rPr lang="en-US" dirty="0">
                <a:latin typeface="Century Gothic" panose="020B0502020202020204" pitchFamily="34" charset="0"/>
              </a:rPr>
              <a:t>strong correlation with Ni Mass (</a:t>
            </a:r>
            <a:r>
              <a:rPr lang="en-US" b="1" dirty="0">
                <a:latin typeface="Century Gothic" panose="020B0502020202020204" pitchFamily="34" charset="0"/>
              </a:rPr>
              <a:t>correlation = 0.999</a:t>
            </a:r>
            <a:r>
              <a:rPr lang="en-US" dirty="0">
                <a:latin typeface="Century Gothic" panose="020B0502020202020204" pitchFamily="34" charset="0"/>
              </a:rPr>
              <a:t>) and a very weak 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correlation with explosion energy (correlation = </a:t>
            </a:r>
            <a:r>
              <a:rPr lang="en-US" sz="1800" b="1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0.001).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Century Gothic" panose="020B0502020202020204" pitchFamily="34" charset="0"/>
              </a:rPr>
              <a:t>C</a:t>
            </a:r>
            <a:r>
              <a:rPr lang="en-IN" b="1" dirty="0" err="1">
                <a:latin typeface="Century Gothic" panose="020B0502020202020204" pitchFamily="34" charset="0"/>
              </a:rPr>
              <a:t>orrelation</a:t>
            </a:r>
            <a:r>
              <a:rPr lang="en-IN" b="1" dirty="0">
                <a:latin typeface="Century Gothic" panose="020B0502020202020204" pitchFamily="34" charset="0"/>
              </a:rPr>
              <a:t> of 0.999 </a:t>
            </a:r>
            <a:r>
              <a:rPr lang="en-IN" dirty="0">
                <a:latin typeface="Century Gothic" panose="020B0502020202020204" pitchFamily="34" charset="0"/>
              </a:rPr>
              <a:t>suggests that the rate at which Ni mass increases/ decreases will be almost same as rate at which emergent gamma rays increase/ decreases.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889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0B455AB-C0B2-4D31-AA6B-0A81BBBD99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129" y="3635986"/>
            <a:ext cx="5155222" cy="3222014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CF94799-B030-426F-B48F-1AF9E13B24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25" y="3635986"/>
            <a:ext cx="5155222" cy="32220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98EABAD-E209-4689-B569-34DC0F417E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129" y="795800"/>
            <a:ext cx="4900251" cy="306265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734068E-B5CF-4D38-A34F-3495A4ED2B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31" y="795800"/>
            <a:ext cx="4868010" cy="304250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D262905-F0C2-4F58-849A-39A55FB88B11}"/>
              </a:ext>
            </a:extLst>
          </p:cNvPr>
          <p:cNvSpPr txBox="1"/>
          <p:nvPr/>
        </p:nvSpPr>
        <p:spPr>
          <a:xfrm>
            <a:off x="300403" y="149469"/>
            <a:ext cx="11164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The different type of Snela Mass flag distribution were categorized and their observable parameters were plotted against each other </a:t>
            </a:r>
            <a:endParaRPr lang="en-IN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137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A00592-3572-41C3-9640-ED02856A401F}"/>
              </a:ext>
            </a:extLst>
          </p:cNvPr>
          <p:cNvSpPr txBox="1"/>
          <p:nvPr/>
        </p:nvSpPr>
        <p:spPr>
          <a:xfrm>
            <a:off x="1216268" y="1028343"/>
            <a:ext cx="956603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Some major observation which were made from the previous graphs: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The peak of maximum velocity is </a:t>
            </a:r>
            <a:r>
              <a:rPr lang="en-US" b="1" dirty="0">
                <a:latin typeface="Century Gothic" panose="020B0502020202020204" pitchFamily="34" charset="0"/>
              </a:rPr>
              <a:t>higher </a:t>
            </a:r>
            <a:r>
              <a:rPr lang="en-US" dirty="0">
                <a:latin typeface="Century Gothic" panose="020B0502020202020204" pitchFamily="34" charset="0"/>
              </a:rPr>
              <a:t>than the peak of optical density in all the plots.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The peak of maximum velocity when compared to the peak of optical depth is much higher in </a:t>
            </a:r>
            <a:r>
              <a:rPr lang="en-US" b="1" dirty="0">
                <a:latin typeface="Century Gothic" panose="020B0502020202020204" pitchFamily="34" charset="0"/>
              </a:rPr>
              <a:t>‘N100’, ‘mwd’ and ‘hed8’ </a:t>
            </a:r>
            <a:r>
              <a:rPr lang="en-US" dirty="0">
                <a:latin typeface="Century Gothic" panose="020B0502020202020204" pitchFamily="34" charset="0"/>
              </a:rPr>
              <a:t>but this peak is comparable with the peak of optical depth in case of </a:t>
            </a:r>
            <a:r>
              <a:rPr lang="en-US" b="1" dirty="0">
                <a:latin typeface="Century Gothic" panose="020B0502020202020204" pitchFamily="34" charset="0"/>
              </a:rPr>
              <a:t>‘w7dt’.</a:t>
            </a:r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The peak of maximum velocity in case of </a:t>
            </a:r>
            <a:r>
              <a:rPr lang="en-US" b="1" dirty="0">
                <a:latin typeface="Century Gothic" panose="020B0502020202020204" pitchFamily="34" charset="0"/>
              </a:rPr>
              <a:t>‘N100’, ‘mwd’ and ‘hed8’ </a:t>
            </a:r>
            <a:r>
              <a:rPr lang="en-US" dirty="0">
                <a:latin typeface="Century Gothic" panose="020B0502020202020204" pitchFamily="34" charset="0"/>
              </a:rPr>
              <a:t>is a little bit rightwards to the minima of emergent flux of gamma rays, while in case of </a:t>
            </a:r>
            <a:r>
              <a:rPr lang="en-US" b="1" dirty="0">
                <a:latin typeface="Century Gothic" panose="020B0502020202020204" pitchFamily="34" charset="0"/>
              </a:rPr>
              <a:t>‘w7dt’ </a:t>
            </a:r>
            <a:r>
              <a:rPr lang="en-US" dirty="0">
                <a:latin typeface="Century Gothic" panose="020B0502020202020204" pitchFamily="34" charset="0"/>
              </a:rPr>
              <a:t>this peak is almost just above the minima of emergent flux of gamma rays. 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entury Gothic" panose="020B0502020202020204" pitchFamily="34" charset="0"/>
            </a:endParaRPr>
          </a:p>
          <a:p>
            <a:r>
              <a:rPr lang="en-US" b="1" dirty="0">
                <a:latin typeface="Century Gothic" panose="020B0502020202020204" pitchFamily="34" charset="0"/>
              </a:rPr>
              <a:t>CONCLUSION : ‘w7dt’</a:t>
            </a:r>
            <a:r>
              <a:rPr lang="en-US" dirty="0">
                <a:latin typeface="Century Gothic" panose="020B0502020202020204" pitchFamily="34" charset="0"/>
              </a:rPr>
              <a:t> have somewhat distinguish quality in case of SNela Mass Distribution.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5024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4368CFF-C28B-4912-9419-0BDC2C3EBB7E}"/>
              </a:ext>
            </a:extLst>
          </p:cNvPr>
          <p:cNvSpPr txBox="1"/>
          <p:nvPr/>
        </p:nvSpPr>
        <p:spPr>
          <a:xfrm>
            <a:off x="96715" y="140677"/>
            <a:ext cx="11939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The different type of Initial Ni flag distribution were categorized and their observable parameters were plotted against each other </a:t>
            </a:r>
            <a:endParaRPr lang="en-IN" dirty="0">
              <a:latin typeface="Century Gothic" panose="020B0502020202020204" pitchFamily="34" charset="0"/>
            </a:endParaRPr>
          </a:p>
          <a:p>
            <a:pPr algn="ctr"/>
            <a:endParaRPr lang="en-IN" dirty="0">
              <a:latin typeface="Century Gothic" panose="020B0502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D1B0B8-8479-4B2E-B967-9F49C30E3B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328" y="788183"/>
            <a:ext cx="4881759" cy="30510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F481E0-1180-40A5-92EE-91E20B4E91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637" y="3719135"/>
            <a:ext cx="4957959" cy="30987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72EA99-8CB0-4031-A124-F7116B59EC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733" y="3563458"/>
            <a:ext cx="5271267" cy="32945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69AC42-7A7B-40BA-A77B-0974A9AC91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386" y="708038"/>
            <a:ext cx="4881760" cy="305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945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575B88-4937-41BE-A3A0-68F044416CD1}"/>
              </a:ext>
            </a:extLst>
          </p:cNvPr>
          <p:cNvSpPr txBox="1"/>
          <p:nvPr/>
        </p:nvSpPr>
        <p:spPr>
          <a:xfrm>
            <a:off x="1260231" y="668215"/>
            <a:ext cx="967153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Some major observation which were made from the previous graphs: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The peak of maximum velocity is </a:t>
            </a:r>
            <a:r>
              <a:rPr lang="en-US" b="1" dirty="0">
                <a:latin typeface="Century Gothic" panose="020B0502020202020204" pitchFamily="34" charset="0"/>
              </a:rPr>
              <a:t>not higher </a:t>
            </a:r>
            <a:r>
              <a:rPr lang="en-US" dirty="0">
                <a:latin typeface="Century Gothic" panose="020B0502020202020204" pitchFamily="34" charset="0"/>
              </a:rPr>
              <a:t>than the peak of optical density in all  the graph, as in case of SNela Mass Distribution.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The trend of higher peak can not be seen in the Initial Ni Mass Flag distribution when the type of flag distribution are </a:t>
            </a:r>
            <a:r>
              <a:rPr lang="en-US" b="1" dirty="0">
                <a:latin typeface="Century Gothic" panose="020B0502020202020204" pitchFamily="34" charset="0"/>
              </a:rPr>
              <a:t>‘w7dt’ </a:t>
            </a:r>
            <a:r>
              <a:rPr lang="en-US" dirty="0">
                <a:latin typeface="Century Gothic" panose="020B0502020202020204" pitchFamily="34" charset="0"/>
              </a:rPr>
              <a:t>and </a:t>
            </a:r>
            <a:r>
              <a:rPr lang="en-US" b="1" dirty="0">
                <a:latin typeface="Century Gothic" panose="020B0502020202020204" pitchFamily="34" charset="0"/>
              </a:rPr>
              <a:t>‘hed8’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In </a:t>
            </a:r>
            <a:r>
              <a:rPr lang="en-US" b="1" dirty="0">
                <a:latin typeface="Century Gothic" panose="020B0502020202020204" pitchFamily="34" charset="0"/>
              </a:rPr>
              <a:t>‘hed8’ </a:t>
            </a:r>
            <a:r>
              <a:rPr lang="en-US" dirty="0">
                <a:latin typeface="Century Gothic" panose="020B0502020202020204" pitchFamily="34" charset="0"/>
              </a:rPr>
              <a:t>the peak of optical density is much </a:t>
            </a:r>
            <a:r>
              <a:rPr lang="en-US" b="1" dirty="0">
                <a:latin typeface="Century Gothic" panose="020B0502020202020204" pitchFamily="34" charset="0"/>
              </a:rPr>
              <a:t>higher</a:t>
            </a:r>
            <a:r>
              <a:rPr lang="en-US" dirty="0">
                <a:latin typeface="Century Gothic" panose="020B0502020202020204" pitchFamily="34" charset="0"/>
              </a:rPr>
              <a:t> than the peak of the maximum velocity, whereas in ‘w7dt’ the peak of optical density is almost </a:t>
            </a:r>
            <a:r>
              <a:rPr lang="en-US" b="1" dirty="0">
                <a:latin typeface="Century Gothic" panose="020B0502020202020204" pitchFamily="34" charset="0"/>
              </a:rPr>
              <a:t>same</a:t>
            </a:r>
            <a:r>
              <a:rPr lang="en-US" dirty="0">
                <a:latin typeface="Century Gothic" panose="020B0502020202020204" pitchFamily="34" charset="0"/>
              </a:rPr>
              <a:t> as peak of maximum velocity.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entury Gothic" panose="020B0502020202020204" pitchFamily="34" charset="0"/>
            </a:endParaRPr>
          </a:p>
          <a:p>
            <a:r>
              <a:rPr lang="en-US" b="1" dirty="0">
                <a:latin typeface="Century Gothic" panose="020B0502020202020204" pitchFamily="34" charset="0"/>
              </a:rPr>
              <a:t>CONCLUSION : </a:t>
            </a:r>
            <a:r>
              <a:rPr lang="en-US" dirty="0">
                <a:latin typeface="Century Gothic" panose="020B0502020202020204" pitchFamily="34" charset="0"/>
              </a:rPr>
              <a:t>These two group have distinguish quality, in both of them the peak of </a:t>
            </a:r>
            <a:r>
              <a:rPr lang="en-US" b="1" dirty="0">
                <a:latin typeface="Century Gothic" panose="020B0502020202020204" pitchFamily="34" charset="0"/>
              </a:rPr>
              <a:t>optical density is higher than the peak of maximum velocity. </a:t>
            </a:r>
            <a:endParaRPr lang="en-IN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787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AD30D7-41BA-424E-81A2-B3987488C9BF}"/>
              </a:ext>
            </a:extLst>
          </p:cNvPr>
          <p:cNvSpPr txBox="1"/>
          <p:nvPr/>
        </p:nvSpPr>
        <p:spPr>
          <a:xfrm>
            <a:off x="219808" y="140677"/>
            <a:ext cx="11641015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For, this typical dataset, two different types of models are used,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Now, for the determination of Total Mass, Mass of Ni and Explosion Energy </a:t>
            </a:r>
            <a:r>
              <a:rPr lang="en-US" b="1" dirty="0">
                <a:latin typeface="Century Gothic" panose="020B0502020202020204" pitchFamily="34" charset="0"/>
              </a:rPr>
              <a:t>a linear regression model </a:t>
            </a:r>
            <a:r>
              <a:rPr lang="en-US" dirty="0">
                <a:latin typeface="Century Gothic" panose="020B0502020202020204" pitchFamily="34" charset="0"/>
              </a:rPr>
              <a:t>is used, a linear regression model is used as these values have a </a:t>
            </a:r>
            <a:r>
              <a:rPr lang="en-US" b="1" dirty="0">
                <a:latin typeface="Century Gothic" panose="020B0502020202020204" pitchFamily="34" charset="0"/>
              </a:rPr>
              <a:t>continuous domain</a:t>
            </a:r>
            <a:r>
              <a:rPr lang="en-US" dirty="0">
                <a:latin typeface="Century Gothic" panose="020B0502020202020204" pitchFamily="34" charset="0"/>
              </a:rPr>
              <a:t>, so any value in that particular domain can be achieved under desired observable parameters.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For each physical parameters determination a </a:t>
            </a:r>
            <a:r>
              <a:rPr lang="en-US" b="1" dirty="0">
                <a:latin typeface="Century Gothic" panose="020B0502020202020204" pitchFamily="34" charset="0"/>
              </a:rPr>
              <a:t>different model </a:t>
            </a:r>
            <a:r>
              <a:rPr lang="en-US" dirty="0">
                <a:latin typeface="Century Gothic" panose="020B0502020202020204" pitchFamily="34" charset="0"/>
              </a:rPr>
              <a:t>has been made.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To check the efficiency of the models MAE (</a:t>
            </a:r>
            <a:r>
              <a:rPr lang="en-US" b="1" dirty="0">
                <a:latin typeface="Century Gothic" panose="020B0502020202020204" pitchFamily="34" charset="0"/>
              </a:rPr>
              <a:t>mean absolute error</a:t>
            </a:r>
            <a:r>
              <a:rPr lang="en-US" dirty="0">
                <a:latin typeface="Century Gothic" panose="020B0502020202020204" pitchFamily="34" charset="0"/>
              </a:rPr>
              <a:t>) , MSE (</a:t>
            </a:r>
            <a:r>
              <a:rPr lang="en-US" b="1" dirty="0">
                <a:latin typeface="Century Gothic" panose="020B0502020202020204" pitchFamily="34" charset="0"/>
              </a:rPr>
              <a:t>mean squared error</a:t>
            </a:r>
            <a:r>
              <a:rPr lang="en-US" dirty="0">
                <a:latin typeface="Century Gothic" panose="020B0502020202020204" pitchFamily="34" charset="0"/>
              </a:rPr>
              <a:t>) ,R2 (</a:t>
            </a:r>
            <a:r>
              <a:rPr lang="en-US" b="1" dirty="0">
                <a:latin typeface="Century Gothic" panose="020B0502020202020204" pitchFamily="34" charset="0"/>
              </a:rPr>
              <a:t>R-squared</a:t>
            </a:r>
            <a:r>
              <a:rPr lang="en-US" dirty="0">
                <a:latin typeface="Century Gothic" panose="020B0502020202020204" pitchFamily="34" charset="0"/>
              </a:rPr>
              <a:t>) have been evaluated.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The dataset which is given to train the model is </a:t>
            </a:r>
            <a:r>
              <a:rPr lang="en-US" b="1" dirty="0">
                <a:latin typeface="Century Gothic" panose="020B0502020202020204" pitchFamily="34" charset="0"/>
              </a:rPr>
              <a:t>not been standardized</a:t>
            </a:r>
            <a:r>
              <a:rPr lang="en-US" dirty="0">
                <a:latin typeface="Century Gothic" panose="020B0502020202020204" pitchFamily="34" charset="0"/>
              </a:rPr>
              <a:t> and the uncertainty columns are been </a:t>
            </a:r>
            <a:r>
              <a:rPr lang="en-US" b="1" dirty="0">
                <a:latin typeface="Century Gothic" panose="020B0502020202020204" pitchFamily="34" charset="0"/>
              </a:rPr>
              <a:t>neglected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Lasso and Ridge models should be avoided as these models are usually used when independent variable are around (12-15), and even when they were tried the alpha value really </a:t>
            </a:r>
            <a:r>
              <a:rPr lang="en-US" b="1" dirty="0">
                <a:latin typeface="Century Gothic" panose="020B0502020202020204" pitchFamily="34" charset="0"/>
              </a:rPr>
              <a:t>did not had a great effect </a:t>
            </a:r>
            <a:r>
              <a:rPr lang="en-US" dirty="0">
                <a:latin typeface="Century Gothic" panose="020B0502020202020204" pitchFamily="34" charset="0"/>
              </a:rPr>
              <a:t>on the prediction of the model.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For, the type of flag for Snela mass and Ni mass distribution, </a:t>
            </a:r>
            <a:r>
              <a:rPr lang="en-US" b="1" dirty="0">
                <a:latin typeface="Century Gothic" panose="020B0502020202020204" pitchFamily="34" charset="0"/>
              </a:rPr>
              <a:t>Random Forest Classifier </a:t>
            </a:r>
            <a:r>
              <a:rPr lang="en-US" dirty="0">
                <a:latin typeface="Century Gothic" panose="020B0502020202020204" pitchFamily="34" charset="0"/>
              </a:rPr>
              <a:t>has been used Random Forest Classifier has been used as it is a classification problem.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For each distribution flag, a different model has been made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To check the validity, efficiency of Random Forest Classifier </a:t>
            </a:r>
            <a:r>
              <a:rPr lang="en-US" b="1" dirty="0">
                <a:latin typeface="Century Gothic" panose="020B0502020202020204" pitchFamily="34" charset="0"/>
              </a:rPr>
              <a:t>metrics.accuracy_score() </a:t>
            </a:r>
            <a:r>
              <a:rPr lang="en-US" dirty="0">
                <a:latin typeface="Century Gothic" panose="020B0502020202020204" pitchFamily="34" charset="0"/>
              </a:rPr>
              <a:t>has been used.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Again the dataset which is given to train the model is not been standardized and the uncertainty columns are been neglected.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N_estimators used = 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160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F7401D-2397-4577-99F1-77C47CB2AD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4133"/>
            <a:ext cx="12192000" cy="603386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4BB28D-310E-4E1B-AFC4-A2DA84F48FF3}"/>
              </a:ext>
            </a:extLst>
          </p:cNvPr>
          <p:cNvSpPr txBox="1"/>
          <p:nvPr/>
        </p:nvSpPr>
        <p:spPr>
          <a:xfrm>
            <a:off x="87923" y="96715"/>
            <a:ext cx="11931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entury Gothic" panose="020B0502020202020204" pitchFamily="34" charset="0"/>
              </a:rPr>
              <a:t>Accuracy of all the different models that were trained.</a:t>
            </a:r>
            <a:endParaRPr lang="en-IN" sz="3200" dirty="0">
              <a:latin typeface="Century Gothic" panose="020B0502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03FC28-D3CA-457F-BDD3-7826471AE775}"/>
              </a:ext>
            </a:extLst>
          </p:cNvPr>
          <p:cNvSpPr txBox="1"/>
          <p:nvPr/>
        </p:nvSpPr>
        <p:spPr>
          <a:xfrm>
            <a:off x="4589585" y="4598377"/>
            <a:ext cx="65151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The accuracy for Random forest Classifier is low and Rsquared value for linear regression are high, mainly the reason behind is that the </a:t>
            </a:r>
            <a:r>
              <a:rPr lang="en-US" b="1" dirty="0">
                <a:solidFill>
                  <a:srgbClr val="00B0F0"/>
                </a:solidFill>
                <a:latin typeface="Century Gothic" panose="020B0502020202020204" pitchFamily="34" charset="0"/>
              </a:rPr>
              <a:t>amount of data given is quite low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, as the amount of data increases these uncertainty will surely decrease. </a:t>
            </a:r>
            <a:endParaRPr lang="en-IN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881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D43C997-0894-495F-9E3B-CB3A84C45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70377"/>
              </p:ext>
            </p:extLst>
          </p:nvPr>
        </p:nvGraphicFramePr>
        <p:xfrm>
          <a:off x="448408" y="263767"/>
          <a:ext cx="11435862" cy="24090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977">
                  <a:extLst>
                    <a:ext uri="{9D8B030D-6E8A-4147-A177-3AD203B41FA5}">
                      <a16:colId xmlns:a16="http://schemas.microsoft.com/office/drawing/2014/main" val="392180021"/>
                    </a:ext>
                  </a:extLst>
                </a:gridCol>
                <a:gridCol w="1905977">
                  <a:extLst>
                    <a:ext uri="{9D8B030D-6E8A-4147-A177-3AD203B41FA5}">
                      <a16:colId xmlns:a16="http://schemas.microsoft.com/office/drawing/2014/main" val="2886519444"/>
                    </a:ext>
                  </a:extLst>
                </a:gridCol>
                <a:gridCol w="1905977">
                  <a:extLst>
                    <a:ext uri="{9D8B030D-6E8A-4147-A177-3AD203B41FA5}">
                      <a16:colId xmlns:a16="http://schemas.microsoft.com/office/drawing/2014/main" val="808557610"/>
                    </a:ext>
                  </a:extLst>
                </a:gridCol>
                <a:gridCol w="1905977">
                  <a:extLst>
                    <a:ext uri="{9D8B030D-6E8A-4147-A177-3AD203B41FA5}">
                      <a16:colId xmlns:a16="http://schemas.microsoft.com/office/drawing/2014/main" val="1216419772"/>
                    </a:ext>
                  </a:extLst>
                </a:gridCol>
                <a:gridCol w="1905977">
                  <a:extLst>
                    <a:ext uri="{9D8B030D-6E8A-4147-A177-3AD203B41FA5}">
                      <a16:colId xmlns:a16="http://schemas.microsoft.com/office/drawing/2014/main" val="293320881"/>
                    </a:ext>
                  </a:extLst>
                </a:gridCol>
                <a:gridCol w="1905977">
                  <a:extLst>
                    <a:ext uri="{9D8B030D-6E8A-4147-A177-3AD203B41FA5}">
                      <a16:colId xmlns:a16="http://schemas.microsoft.com/office/drawing/2014/main" val="449637604"/>
                    </a:ext>
                  </a:extLst>
                </a:gridCol>
              </a:tblGrid>
              <a:tr h="602273">
                <a:tc>
                  <a:txBody>
                    <a:bodyPr/>
                    <a:lstStyle/>
                    <a:p>
                      <a:pPr algn="l" fontAlgn="b"/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Total Mass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Initial Ni Mass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Explosion Energy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Snela Mass distribution Flag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Ni Mass distribution Flag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90770960"/>
                  </a:ext>
                </a:extLst>
              </a:tr>
              <a:tr h="60227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Case1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2.041665355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0.630932517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1.380245037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N100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mwd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9692347"/>
                  </a:ext>
                </a:extLst>
              </a:tr>
              <a:tr h="60227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Case2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1.5148545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0.261369474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1.362017921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hed8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hed8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40725234"/>
                  </a:ext>
                </a:extLst>
              </a:tr>
              <a:tr h="60227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Case3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1.392440847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0.5452576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1.380180445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hed8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w7dt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1386705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A0B74BC-D0A5-4EDF-B9D2-B4CA028C43CC}"/>
              </a:ext>
            </a:extLst>
          </p:cNvPr>
          <p:cNvSpPr txBox="1"/>
          <p:nvPr/>
        </p:nvSpPr>
        <p:spPr>
          <a:xfrm>
            <a:off x="1230923" y="3358662"/>
            <a:ext cx="902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These are the values which are obtained for the cases given:</a:t>
            </a:r>
            <a:endParaRPr lang="en-IN" dirty="0">
              <a:latin typeface="Century Gothic" panose="020B0502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DC4E5F-2ECE-41A7-8BDD-B6A3D7F2B5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8" t="1230" r="-278" b="-1230"/>
          <a:stretch/>
        </p:blipFill>
        <p:spPr>
          <a:xfrm>
            <a:off x="8352691" y="2871619"/>
            <a:ext cx="3164215" cy="35731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9605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6D971-8021-4905-8887-01293D03566D}"/>
              </a:ext>
            </a:extLst>
          </p:cNvPr>
          <p:cNvSpPr txBox="1"/>
          <p:nvPr/>
        </p:nvSpPr>
        <p:spPr>
          <a:xfrm>
            <a:off x="235926" y="281354"/>
            <a:ext cx="117201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The Jupyter Notebook can be accessed through : </a:t>
            </a:r>
          </a:p>
          <a:p>
            <a:r>
              <a:rPr lang="en-US" dirty="0">
                <a:latin typeface="Century Gothic" panose="020B0502020202020204" pitchFamily="34" charset="0"/>
                <a:hlinkClick r:id="rId2"/>
              </a:rPr>
              <a:t>https://github.com/VIDIT-OSTWAL/GSoC---2021-ML4SCI/blob/main/Supernova.ipynb</a:t>
            </a:r>
            <a:endParaRPr lang="en-US" dirty="0">
              <a:latin typeface="Century Gothic" panose="020B0502020202020204" pitchFamily="34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  <a:p>
            <a:endParaRPr lang="en-IN" b="1" dirty="0"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85469B-B5C8-4B46-A08C-22E634FB8D47}"/>
              </a:ext>
            </a:extLst>
          </p:cNvPr>
          <p:cNvSpPr txBox="1"/>
          <p:nvPr/>
        </p:nvSpPr>
        <p:spPr>
          <a:xfrm>
            <a:off x="369277" y="1125415"/>
            <a:ext cx="1147396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Some glance of my code: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Linear_regression_comparision function : This function returns </a:t>
            </a:r>
            <a:r>
              <a:rPr lang="en-US" b="1" dirty="0">
                <a:latin typeface="Century Gothic" panose="020B0502020202020204" pitchFamily="34" charset="0"/>
              </a:rPr>
              <a:t>a set of five models</a:t>
            </a:r>
            <a:r>
              <a:rPr lang="en-US" dirty="0">
                <a:latin typeface="Century Gothic" panose="020B0502020202020204" pitchFamily="34" charset="0"/>
              </a:rPr>
              <a:t>, 3 of regression type and two of classification type, the input is the dataset, all the required columns are extracted within the function itself.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Physical_parameters_value : This function </a:t>
            </a:r>
            <a:r>
              <a:rPr lang="en-US" b="1" dirty="0">
                <a:latin typeface="Century Gothic" panose="020B0502020202020204" pitchFamily="34" charset="0"/>
              </a:rPr>
              <a:t>directly return a data frame</a:t>
            </a:r>
            <a:r>
              <a:rPr lang="en-US" dirty="0">
                <a:latin typeface="Century Gothic" panose="020B0502020202020204" pitchFamily="34" charset="0"/>
              </a:rPr>
              <a:t>, which has all the predicted physical parameters, the input is a data frame containing observable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entury Gothic" panose="020B0502020202020204" pitchFamily="34" charset="0"/>
            </a:endParaRPr>
          </a:p>
          <a:p>
            <a:endParaRPr lang="en-IN" dirty="0">
              <a:latin typeface="Century Gothic" panose="020B0502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8B341A-A9EF-43F1-BB20-E206F6401CDD}"/>
              </a:ext>
            </a:extLst>
          </p:cNvPr>
          <p:cNvSpPr txBox="1"/>
          <p:nvPr/>
        </p:nvSpPr>
        <p:spPr>
          <a:xfrm>
            <a:off x="4906104" y="5025229"/>
            <a:ext cx="80625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entury Gothic" panose="020B0502020202020204" pitchFamily="34" charset="0"/>
              </a:rPr>
              <a:t>LOOKING FORWARD TO WORK WITH YOU!</a:t>
            </a:r>
            <a:endParaRPr lang="en-IN" sz="36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410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310</TotalTime>
  <Words>1493</Words>
  <Application>Microsoft Office PowerPoint</Application>
  <PresentationFormat>Widescreen</PresentationFormat>
  <Paragraphs>189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Century Gothic</vt:lpstr>
      <vt:lpstr>Wingdings 3</vt:lpstr>
      <vt:lpstr>Office Theme</vt:lpstr>
      <vt:lpstr>Slice</vt:lpstr>
      <vt:lpstr>GSoC -2021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GSoC -2021</dc:title>
  <dc:creator>Vidit Ostwal</dc:creator>
  <cp:lastModifiedBy>Vidit Ostwal</cp:lastModifiedBy>
  <cp:revision>21</cp:revision>
  <dcterms:created xsi:type="dcterms:W3CDTF">2021-03-13T17:03:30Z</dcterms:created>
  <dcterms:modified xsi:type="dcterms:W3CDTF">2021-04-09T17:23:13Z</dcterms:modified>
</cp:coreProperties>
</file>